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87" r:id="rId2"/>
    <p:sldId id="288" r:id="rId3"/>
    <p:sldId id="28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F80FE-39A9-4918-9A4E-ADAEDD713B0D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34B91-4D51-4081-829A-BB1F405F14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81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1675922-CE27-A8A4-13B3-E0DF5E022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1C637FE7-8E70-63BA-EA14-A72A9A3BA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723ADF32-6E86-9A3F-B173-4CD8360433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3907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A564815-C67E-B5AD-C782-5C25F0B9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C40AD5FC-04B3-4028-1434-7A439055D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18A39779-BF9C-1DF5-5DE3-40FA77367B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60190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0B4F-84CE-B9FE-A282-42549980D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7C369-C3A8-7BDD-5D32-81859C5A0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74A11-A0A7-C668-546B-7819597E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72913-019A-4223-90A4-04DEEFB688C7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C15E7-CDD9-EBD2-35C8-4A8DF301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5175C-5D94-3262-3C53-5309D368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0C3BF-863D-4918-8BF2-234537740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184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FEAE-065F-A4E3-9FD6-CAAA2A786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73E28-F2C8-009A-498A-09E623162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B3914-5AC3-9771-BAE0-309111B6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72913-019A-4223-90A4-04DEEFB688C7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0B13C-34B9-8736-610D-1F974162B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0B01A-5591-6BA1-B359-82004A1C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0C3BF-863D-4918-8BF2-234537740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34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71C93-41D5-9698-F85E-EB169047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258E9-9FF6-4A18-82F7-BB9FE20AC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DC9A2-22E2-FAD0-5674-E6E955B76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72913-019A-4223-90A4-04DEEFB688C7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D29F6-861E-0AB0-F50E-D9FD5367D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BDB0D-93D4-C9A8-FA15-E8FFB366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0C3BF-863D-4918-8BF2-234537740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4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AC964-67D1-4B6E-D6BB-436B299D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2B781-B8DB-E53A-E9B0-F5F248FEF7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AEAC0-28F4-76A1-1DAE-EEB09AE3A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207C8-4BC9-2062-A421-BE15478A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72913-019A-4223-90A4-04DEEFB688C7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BAAD2-15C2-6097-EA8A-B3CF88B89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08953-5A2E-346F-B02D-4B204966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0C3BF-863D-4918-8BF2-234537740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51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2D1E-695B-75A1-B7BE-497988A5E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69961-3BB2-7EF0-42FC-911AA40BA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6C535-CC13-86DA-A768-488AA6DF2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17EC58-AC92-1C08-1C6B-050745288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DA5EBF-C623-06FA-E0F6-7D24C5B35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881839-3F96-5F9B-FD2C-793A38393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72913-019A-4223-90A4-04DEEFB688C7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F4DDF-4366-73EE-57D8-81648F26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42781-A44B-EC49-A27D-4506F6AB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0C3BF-863D-4918-8BF2-234537740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7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4DDA4-F5B4-1999-93C6-798E5089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63EF1B-071A-08BD-FF6A-11AB0061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72913-019A-4223-90A4-04DEEFB688C7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F056B-0ABE-6187-2A48-0706D5648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0C655-5646-DDE7-012A-F673CB620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0C3BF-863D-4918-8BF2-234537740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334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26E849-35E3-9AAF-4212-68097DB8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72913-019A-4223-90A4-04DEEFB688C7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E7EECA-D6D5-55EE-034B-FD1D245AF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57689-35E5-6DB9-8019-72395817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0C3BF-863D-4918-8BF2-234537740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47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9F64-CFDD-A810-2741-589CA69AB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D6C69-9A37-534E-ABB8-395A1D1E6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49F80-2C50-1241-4985-E4A787DA5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4A652-A5D3-8346-16E7-E2A31C3D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72913-019A-4223-90A4-04DEEFB688C7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78D9D-5B6B-E694-F52A-C0F4B303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D926D-5AD2-91D8-B858-DB7E72351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0C3BF-863D-4918-8BF2-234537740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A3DB-5409-AE1F-3709-EEFFAF89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3D718C-8F4A-A82C-77A5-D5AE3324D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FCE07-3B2D-C3F5-6A7C-BB38C6205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1B9FB-2C93-D3D2-DBC7-BA71B587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72913-019A-4223-90A4-04DEEFB688C7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6F84C-BD4C-6009-DD10-068220438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8DDDD-5892-B2C2-8957-4407AE55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0C3BF-863D-4918-8BF2-234537740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293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5848-EC95-01CE-A338-F9DDAB5DD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73422-B875-6DCD-8F99-DB2D6E165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3F602-C24E-F38F-FB28-35709CB4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72913-019A-4223-90A4-04DEEFB688C7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7F886-129F-33B2-56E4-58A7FEB53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8DCE4-6275-3EC5-5E79-E151830C3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0C3BF-863D-4918-8BF2-234537740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696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68BB7A-3206-3076-C79B-C6F7DE355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35D8B-0BE7-320C-754E-0B4DB705D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2E714-91D3-FD0D-1F58-937F59ACF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72913-019A-4223-90A4-04DEEFB688C7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2AE27-1C0A-DE1D-16C2-FC782A78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B738B-1ABA-ECFB-BD4A-5328FCE9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0C3BF-863D-4918-8BF2-234537740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19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385B14-DEB9-6D41-5C10-AAD698A1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66C9-7B0A-C33C-765A-663C6389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8A61-0A60-FEA5-F375-A17AB3BD3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72913-019A-4223-90A4-04DEEFB688C7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1D8C0-1378-B9D7-875A-5D48A23E9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FFF24-CC44-2D9F-C908-9030E8865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0C3BF-863D-4918-8BF2-234537740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34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/>
        </p:nvSpPr>
        <p:spPr>
          <a:xfrm>
            <a:off x="11932920" y="68580"/>
            <a:ext cx="342800" cy="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rgbClr val="FFFFFF"/>
              </a:buClr>
              <a:buSzPts val="300"/>
            </a:pPr>
            <a:r>
              <a:rPr lang="en-GB" sz="400">
                <a:solidFill>
                  <a:srgbClr val="FFFFFF"/>
                </a:solidFill>
                <a:latin typeface="Times New Roman" panose="02020603050405020304" pitchFamily="18" charset="0"/>
                <a:ea typeface="Trebuchet MS" panose="020B0603020202020204"/>
                <a:cs typeface="Times New Roman" panose="02020603050405020304" pitchFamily="18" charset="0"/>
                <a:sym typeface="Trebuchet MS" panose="020B0603020202020204"/>
              </a:rPr>
              <a:t>TM</a:t>
            </a:r>
            <a:endParaRPr sz="146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32335" y="804322"/>
            <a:ext cx="5034967" cy="75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400"/>
            </a:pPr>
            <a:endParaRPr sz="2400" dirty="0">
              <a:solidFill>
                <a:srgbClr val="FFFFFF"/>
              </a:solidFill>
              <a:latin typeface="Times New Roman" panose="02020603050405020304" pitchFamily="18" charset="0"/>
              <a:ea typeface="Trebuchet MS" panose="020B0603020202020204"/>
              <a:cs typeface="Times New Roman" panose="02020603050405020304" pitchFamily="18" charset="0"/>
              <a:sym typeface="Trebuchet MS" panose="020B0603020202020204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5102415" y="819839"/>
            <a:ext cx="3633216" cy="4299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58656" y="5160611"/>
            <a:ext cx="5008645" cy="1630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just">
              <a:buClr>
                <a:schemeClr val="dk1"/>
              </a:buClr>
              <a:buSzPts val="1100"/>
            </a:pPr>
            <a:endParaRPr sz="1333" dirty="0">
              <a:solidFill>
                <a:srgbClr val="FFFFFF"/>
              </a:solidFill>
              <a:latin typeface="Times New Roman" panose="02020603050405020304" pitchFamily="18" charset="0"/>
              <a:ea typeface="Trebuchet MS" panose="020B0603020202020204"/>
              <a:cs typeface="Times New Roman" panose="02020603050405020304" pitchFamily="18" charset="0"/>
              <a:sym typeface="Trebuchet MS" panose="020B0603020202020204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-24161" y="740240"/>
            <a:ext cx="5091461" cy="10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Clr>
                <a:schemeClr val="dk1"/>
              </a:buClr>
              <a:buSzPts val="1100"/>
            </a:pPr>
            <a:endParaRPr lang="en-US" sz="1200" kern="1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Google Shape;60;p1"/>
          <p:cNvSpPr/>
          <p:nvPr/>
        </p:nvSpPr>
        <p:spPr>
          <a:xfrm>
            <a:off x="-12081" y="-4407"/>
            <a:ext cx="12204081" cy="775449"/>
          </a:xfrm>
          <a:prstGeom prst="rect">
            <a:avLst/>
          </a:prstGeom>
          <a:solidFill>
            <a:schemeClr val="tx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accent2"/>
              </a:buClr>
              <a:buSzPts val="2400"/>
            </a:pP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Google Shape;61;p1"/>
          <p:cNvSpPr/>
          <p:nvPr/>
        </p:nvSpPr>
        <p:spPr>
          <a:xfrm>
            <a:off x="2003339" y="15985"/>
            <a:ext cx="8826800" cy="74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Transformer SR Survey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Debasish Dutta, Deepjyoti Chetia , Neeharika Sonowal and Sanjib Kr Kalita</a:t>
            </a:r>
            <a:endParaRPr lang="en-US" sz="2400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5" name="Google Shape;62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447520" y="15985"/>
            <a:ext cx="656800" cy="6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59;p1"/>
          <p:cNvSpPr txBox="1"/>
          <p:nvPr/>
        </p:nvSpPr>
        <p:spPr>
          <a:xfrm>
            <a:off x="46448" y="785157"/>
            <a:ext cx="5019497" cy="1773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Problem Statement:</a:t>
            </a:r>
            <a:b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rapid progress in Transformer-based Super-Resolution (SR), there is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comprehensive review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organizes and compares these models — including pure-transformer designs, hybrid approaches, and domain-specific optimizations.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gap leaves researchers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 clear roadmap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understanding strengths, weaknesses, and trade-offs across models</a:t>
            </a:r>
            <a:endParaRPr lang="en-US" sz="1400" b="1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9" name="Google Shape;58;p1"/>
          <p:cNvSpPr/>
          <p:nvPr/>
        </p:nvSpPr>
        <p:spPr>
          <a:xfrm>
            <a:off x="8704144" y="819996"/>
            <a:ext cx="3332243" cy="3094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Google Shape;78;p1"/>
          <p:cNvSpPr/>
          <p:nvPr/>
        </p:nvSpPr>
        <p:spPr>
          <a:xfrm>
            <a:off x="5185510" y="2481998"/>
            <a:ext cx="3401596" cy="4299623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lang="en-US" sz="1400" b="1" dirty="0">
              <a:solidFill>
                <a:srgbClr val="17365D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endParaRPr lang="en-US" sz="1400" b="1" dirty="0">
              <a:solidFill>
                <a:srgbClr val="17365D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endParaRPr lang="en-US" sz="1400" b="1" dirty="0">
              <a:solidFill>
                <a:srgbClr val="17365D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Challenges in Transformer-based SR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High Memory &amp; Computation Cost – Transformers require large GPU memory and heavy computation, making real-time use difficult.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Large Data Dependency – Performance often drops without huge training dataset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Fine-Texture Preservation – Maintaining sharp, high-frequency details in complex scenes is still hard.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Slow Inference Speed – High latency prevents use in real-time or edge applications.</a:t>
            </a:r>
            <a:endParaRPr lang="en-US" sz="1400" b="1" dirty="0">
              <a:solidFill>
                <a:srgbClr val="17365D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/>
            <a:r>
              <a:rPr lang="en-US" sz="1400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Future models should be: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Lightweight and efficient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Able to handle many types of degradation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Potentially combine classical methods (wavelets, interpolation) with deep learning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1400" b="1" dirty="0">
              <a:solidFill>
                <a:srgbClr val="17365D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chemeClr val="dk1"/>
              </a:buClr>
              <a:buSzPts val="1100"/>
            </a:pPr>
            <a:endParaRPr sz="1400" dirty="0">
              <a:solidFill>
                <a:srgbClr val="FFFFFF"/>
              </a:solidFill>
              <a:latin typeface="Times New Roman" panose="02020603050405020304" pitchFamily="18" charset="0"/>
              <a:ea typeface="Trebuchet MS" panose="020B0603020202020204"/>
              <a:cs typeface="Times New Roman" panose="02020603050405020304" pitchFamily="18" charset="0"/>
              <a:sym typeface="Trebuchet MS" panose="020B0603020202020204"/>
            </a:endParaRPr>
          </a:p>
        </p:txBody>
      </p:sp>
      <p:sp>
        <p:nvSpPr>
          <p:cNvPr id="2" name="Google Shape;59;p1">
            <a:extLst>
              <a:ext uri="{FF2B5EF4-FFF2-40B4-BE49-F238E27FC236}">
                <a16:creationId xmlns:a16="http://schemas.microsoft.com/office/drawing/2014/main" id="{831F612F-9D72-E8B4-D439-5E4D0FE4E0BC}"/>
              </a:ext>
            </a:extLst>
          </p:cNvPr>
          <p:cNvSpPr txBox="1"/>
          <p:nvPr/>
        </p:nvSpPr>
        <p:spPr>
          <a:xfrm>
            <a:off x="57564" y="2644628"/>
            <a:ext cx="5019497" cy="17249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Objective:</a:t>
            </a:r>
          </a:p>
          <a:p>
            <a:pPr marL="171446" indent="-171446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Analyze Transformer-based SR models, their core components, and differences from CNNs.</a:t>
            </a:r>
          </a:p>
          <a:p>
            <a:pPr marL="171446" indent="-171446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Compare datasets, metrics, and each model’s strengths, weaknesses, and trade-offs.</a:t>
            </a:r>
          </a:p>
          <a:p>
            <a:pPr marL="171446" indent="-171446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structured foundation for future work in SR.</a:t>
            </a: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Google Shape;59;p1">
            <a:extLst>
              <a:ext uri="{FF2B5EF4-FFF2-40B4-BE49-F238E27FC236}">
                <a16:creationId xmlns:a16="http://schemas.microsoft.com/office/drawing/2014/main" id="{2980D475-7C7C-2654-21C0-0EFC3403E6DC}"/>
              </a:ext>
            </a:extLst>
          </p:cNvPr>
          <p:cNvSpPr txBox="1"/>
          <p:nvPr/>
        </p:nvSpPr>
        <p:spPr>
          <a:xfrm>
            <a:off x="5185510" y="803449"/>
            <a:ext cx="3418585" cy="16028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Proposed Approach:</a:t>
            </a:r>
            <a:b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 taxonomy of SR models is proposed, along with comparative tables summarizing metrics across datasets. The review identifies open challenges and emerging directions, such as lightweight Transformer SR and domain-specific adaptations.</a:t>
            </a:r>
          </a:p>
        </p:txBody>
      </p:sp>
      <p:sp>
        <p:nvSpPr>
          <p:cNvPr id="6" name="Google Shape;59;p1">
            <a:extLst>
              <a:ext uri="{FF2B5EF4-FFF2-40B4-BE49-F238E27FC236}">
                <a16:creationId xmlns:a16="http://schemas.microsoft.com/office/drawing/2014/main" id="{4BE98EE8-2249-4E48-A415-E28D97468C48}"/>
              </a:ext>
            </a:extLst>
          </p:cNvPr>
          <p:cNvSpPr txBox="1"/>
          <p:nvPr/>
        </p:nvSpPr>
        <p:spPr>
          <a:xfrm>
            <a:off x="8704144" y="4432573"/>
            <a:ext cx="3453115" cy="23568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rgbClr val="2F5496"/>
              </a:buClr>
              <a:buSzPts val="1200"/>
            </a:pPr>
            <a:endParaRPr lang="en-IN" sz="14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5" name="Google Shape;59;p1">
            <a:extLst>
              <a:ext uri="{FF2B5EF4-FFF2-40B4-BE49-F238E27FC236}">
                <a16:creationId xmlns:a16="http://schemas.microsoft.com/office/drawing/2014/main" id="{A9C2DB9B-BA06-A533-6680-6AB82EFC1A5D}"/>
              </a:ext>
            </a:extLst>
          </p:cNvPr>
          <p:cNvSpPr txBox="1"/>
          <p:nvPr/>
        </p:nvSpPr>
        <p:spPr>
          <a:xfrm>
            <a:off x="8677654" y="804927"/>
            <a:ext cx="3455691" cy="3564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From CNNs &amp; GANs to Transformers:</a:t>
            </a:r>
          </a:p>
          <a:p>
            <a:pPr marL="171446" indent="-171446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Captures global context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Self-attention models relationships across the entire image, unlike CNNs with limited receptive fields.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Recovers fine textures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Preserves high-frequency details more accurately than GANs, which may hallucinate artifacts.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Adaptive attention mechanism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Dynamically focuses on important regions, unlike CNNs with fixed-size kernels.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Supports multiple tasks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– A single transformer can handle SR, denoising, and deblurring without major redesign.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/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Conclusion :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Even though transformer SR has advanced a lot, challenges remain: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High memory and computation requirements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Dependence on large datasets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Difficulty with fine textures in complex images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Slow inference for real-time use</a:t>
            </a: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2F5496"/>
              </a:buClr>
              <a:buSzPts val="1200"/>
            </a:pPr>
            <a:endParaRPr lang="en-IN" sz="14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E6507588-2A4D-86E4-F102-37F935FED7BE}"/>
              </a:ext>
            </a:extLst>
          </p:cNvPr>
          <p:cNvSpPr txBox="1"/>
          <p:nvPr/>
        </p:nvSpPr>
        <p:spPr>
          <a:xfrm>
            <a:off x="57564" y="4432573"/>
            <a:ext cx="5019497" cy="23260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Methodology: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a systematic literature review of SR transformer models.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Categorized models by architecture (</a:t>
            </a:r>
            <a:r>
              <a:rPr lang="en-US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Swin, hybrid, encoder-decoder, deformable attention).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models using PSNR, SSIM, parameters, and FLOPs.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SR loss functions (pixel, perceptual, adversarial, texture, combined).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7E5A7DC-FA31-9182-F136-A52FBA9E4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6000"/>
    </mc:Choice>
    <mc:Fallback xmlns="">
      <p:transition advClick="0" advTm="6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8D5463F-AB6C-6D15-0090-C82202176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>
            <a:extLst>
              <a:ext uri="{FF2B5EF4-FFF2-40B4-BE49-F238E27FC236}">
                <a16:creationId xmlns:a16="http://schemas.microsoft.com/office/drawing/2014/main" id="{CA33BD32-E8BB-BC07-32B4-1006CF981AA7}"/>
              </a:ext>
            </a:extLst>
          </p:cNvPr>
          <p:cNvSpPr txBox="1"/>
          <p:nvPr/>
        </p:nvSpPr>
        <p:spPr>
          <a:xfrm>
            <a:off x="11932920" y="68580"/>
            <a:ext cx="342800" cy="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rgbClr val="FFFFFF"/>
              </a:buClr>
              <a:buSzPts val="300"/>
            </a:pPr>
            <a:r>
              <a:rPr lang="en-GB" sz="400">
                <a:solidFill>
                  <a:srgbClr val="FFFFFF"/>
                </a:solidFill>
                <a:latin typeface="Times New Roman" panose="02020603050405020304" pitchFamily="18" charset="0"/>
                <a:ea typeface="Trebuchet MS" panose="020B0603020202020204"/>
                <a:cs typeface="Times New Roman" panose="02020603050405020304" pitchFamily="18" charset="0"/>
                <a:sym typeface="Trebuchet MS" panose="020B0603020202020204"/>
              </a:rPr>
              <a:t>TM</a:t>
            </a:r>
            <a:endParaRPr sz="146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8AFC1E08-1146-ED23-5B15-20BDB7726CD2}"/>
              </a:ext>
            </a:extLst>
          </p:cNvPr>
          <p:cNvSpPr/>
          <p:nvPr/>
        </p:nvSpPr>
        <p:spPr>
          <a:xfrm>
            <a:off x="32335" y="804322"/>
            <a:ext cx="5034967" cy="75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400"/>
            </a:pPr>
            <a:endParaRPr sz="2400" dirty="0">
              <a:solidFill>
                <a:srgbClr val="FFFFFF"/>
              </a:solidFill>
              <a:latin typeface="Times New Roman" panose="02020603050405020304" pitchFamily="18" charset="0"/>
              <a:ea typeface="Trebuchet MS" panose="020B0603020202020204"/>
              <a:cs typeface="Times New Roman" panose="02020603050405020304" pitchFamily="18" charset="0"/>
              <a:sym typeface="Trebuchet MS" panose="020B0603020202020204"/>
            </a:endParaRPr>
          </a:p>
        </p:txBody>
      </p:sp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88A330D9-67A3-80E5-584E-B72DAA15348D}"/>
              </a:ext>
            </a:extLst>
          </p:cNvPr>
          <p:cNvSpPr/>
          <p:nvPr/>
        </p:nvSpPr>
        <p:spPr>
          <a:xfrm>
            <a:off x="5102415" y="819839"/>
            <a:ext cx="3633216" cy="4299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Google Shape;68;p1">
            <a:extLst>
              <a:ext uri="{FF2B5EF4-FFF2-40B4-BE49-F238E27FC236}">
                <a16:creationId xmlns:a16="http://schemas.microsoft.com/office/drawing/2014/main" id="{FA089BC1-F609-ED56-6106-0BE44AEF3DD4}"/>
              </a:ext>
            </a:extLst>
          </p:cNvPr>
          <p:cNvSpPr/>
          <p:nvPr/>
        </p:nvSpPr>
        <p:spPr>
          <a:xfrm>
            <a:off x="58656" y="5160611"/>
            <a:ext cx="5008645" cy="1630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just">
              <a:buClr>
                <a:schemeClr val="dk1"/>
              </a:buClr>
              <a:buSzPts val="1100"/>
            </a:pPr>
            <a:endParaRPr sz="1333" dirty="0">
              <a:solidFill>
                <a:srgbClr val="FFFFFF"/>
              </a:solidFill>
              <a:latin typeface="Times New Roman" panose="02020603050405020304" pitchFamily="18" charset="0"/>
              <a:ea typeface="Trebuchet MS" panose="020B0603020202020204"/>
              <a:cs typeface="Times New Roman" panose="02020603050405020304" pitchFamily="18" charset="0"/>
              <a:sym typeface="Trebuchet MS" panose="020B0603020202020204"/>
            </a:endParaRPr>
          </a:p>
        </p:txBody>
      </p:sp>
      <p:sp>
        <p:nvSpPr>
          <p:cNvPr id="74" name="Google Shape;74;p1">
            <a:extLst>
              <a:ext uri="{FF2B5EF4-FFF2-40B4-BE49-F238E27FC236}">
                <a16:creationId xmlns:a16="http://schemas.microsoft.com/office/drawing/2014/main" id="{BDF8AA81-D7BD-68E8-D1D0-B6F3A4D4D9F9}"/>
              </a:ext>
            </a:extLst>
          </p:cNvPr>
          <p:cNvSpPr txBox="1"/>
          <p:nvPr/>
        </p:nvSpPr>
        <p:spPr>
          <a:xfrm>
            <a:off x="-24161" y="740240"/>
            <a:ext cx="5091461" cy="10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Clr>
                <a:schemeClr val="dk1"/>
              </a:buClr>
              <a:buSzPts val="1100"/>
            </a:pPr>
            <a:endParaRPr lang="en-US" sz="1200" kern="1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Google Shape;60;p1">
            <a:extLst>
              <a:ext uri="{FF2B5EF4-FFF2-40B4-BE49-F238E27FC236}">
                <a16:creationId xmlns:a16="http://schemas.microsoft.com/office/drawing/2014/main" id="{EAF1CBA8-A5AA-4098-0A4F-3A98E239CC8E}"/>
              </a:ext>
            </a:extLst>
          </p:cNvPr>
          <p:cNvSpPr/>
          <p:nvPr/>
        </p:nvSpPr>
        <p:spPr>
          <a:xfrm>
            <a:off x="-12081" y="-4407"/>
            <a:ext cx="12204081" cy="775449"/>
          </a:xfrm>
          <a:prstGeom prst="rect">
            <a:avLst/>
          </a:prstGeom>
          <a:solidFill>
            <a:schemeClr val="tx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accent2"/>
              </a:buClr>
              <a:buSzPts val="2400"/>
            </a:pP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Google Shape;61;p1">
            <a:extLst>
              <a:ext uri="{FF2B5EF4-FFF2-40B4-BE49-F238E27FC236}">
                <a16:creationId xmlns:a16="http://schemas.microsoft.com/office/drawing/2014/main" id="{BDAF4C6B-8213-CA7F-CBD7-29F15FB13089}"/>
              </a:ext>
            </a:extLst>
          </p:cNvPr>
          <p:cNvSpPr/>
          <p:nvPr/>
        </p:nvSpPr>
        <p:spPr>
          <a:xfrm>
            <a:off x="-24161" y="-90049"/>
            <a:ext cx="12216161" cy="94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US" sz="2400" dirty="0" err="1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Superformer</a:t>
            </a:r>
            <a:endParaRPr lang="en-US" sz="2400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algn="ctr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Cristhian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Forigua</a:t>
            </a:r>
            <a:r>
              <a:rPr lang="en-US" sz="14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, Maria Escobar, Pablo Arbelaez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Google Shape;62;p1">
            <a:extLst>
              <a:ext uri="{FF2B5EF4-FFF2-40B4-BE49-F238E27FC236}">
                <a16:creationId xmlns:a16="http://schemas.microsoft.com/office/drawing/2014/main" id="{F38FE1AC-C5E0-3D3D-D1D4-4E7D027CCE88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447520" y="15985"/>
            <a:ext cx="656800" cy="6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59;p1">
            <a:extLst>
              <a:ext uri="{FF2B5EF4-FFF2-40B4-BE49-F238E27FC236}">
                <a16:creationId xmlns:a16="http://schemas.microsoft.com/office/drawing/2014/main" id="{9A8D6DA6-D532-ED3A-8BEC-FCCD2B9E00B6}"/>
              </a:ext>
            </a:extLst>
          </p:cNvPr>
          <p:cNvSpPr txBox="1"/>
          <p:nvPr/>
        </p:nvSpPr>
        <p:spPr>
          <a:xfrm>
            <a:off x="46449" y="785157"/>
            <a:ext cx="4236794" cy="1773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Problem Statement:</a:t>
            </a:r>
            <a:b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High-resolution MRI provides vital anatomical details but is costly and time-consuming. Volumetric super-resolution offers a way to generate high-resolution scans from low-resolution inputs while keeping their speed and affordability.</a:t>
            </a:r>
            <a:endParaRPr lang="en-US" sz="1400" b="1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9" name="Google Shape;58;p1">
            <a:extLst>
              <a:ext uri="{FF2B5EF4-FFF2-40B4-BE49-F238E27FC236}">
                <a16:creationId xmlns:a16="http://schemas.microsoft.com/office/drawing/2014/main" id="{5BD77549-F8C1-6C5F-973D-03999CD3C6DE}"/>
              </a:ext>
            </a:extLst>
          </p:cNvPr>
          <p:cNvSpPr/>
          <p:nvPr/>
        </p:nvSpPr>
        <p:spPr>
          <a:xfrm>
            <a:off x="8704144" y="819996"/>
            <a:ext cx="3332243" cy="3094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Google Shape;78;p1">
            <a:extLst>
              <a:ext uri="{FF2B5EF4-FFF2-40B4-BE49-F238E27FC236}">
                <a16:creationId xmlns:a16="http://schemas.microsoft.com/office/drawing/2014/main" id="{4A6638F5-1F09-39B2-D022-1431BEE8C1A4}"/>
              </a:ext>
            </a:extLst>
          </p:cNvPr>
          <p:cNvSpPr/>
          <p:nvPr/>
        </p:nvSpPr>
        <p:spPr>
          <a:xfrm>
            <a:off x="4361427" y="2693426"/>
            <a:ext cx="4225679" cy="4088196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Split MRI into 3D tokens and embed.</a:t>
            </a: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3D shifted window attention in Swin blocks.</a:t>
            </a: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Reconstruction: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Fuse features to generate HR MRI.</a:t>
            </a:r>
          </a:p>
        </p:txBody>
      </p:sp>
      <p:sp>
        <p:nvSpPr>
          <p:cNvPr id="2" name="Google Shape;59;p1">
            <a:extLst>
              <a:ext uri="{FF2B5EF4-FFF2-40B4-BE49-F238E27FC236}">
                <a16:creationId xmlns:a16="http://schemas.microsoft.com/office/drawing/2014/main" id="{5D5168B0-4F08-7C11-B8E0-A34927A26F58}"/>
              </a:ext>
            </a:extLst>
          </p:cNvPr>
          <p:cNvSpPr txBox="1"/>
          <p:nvPr/>
        </p:nvSpPr>
        <p:spPr>
          <a:xfrm>
            <a:off x="57564" y="2644628"/>
            <a:ext cx="4225679" cy="17249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Objective:</a:t>
            </a: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Transformers (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medical imaging domain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Swin Transformer to volumetric MRI super-resolution.</a:t>
            </a:r>
          </a:p>
          <a:p>
            <a:pPr marL="171446" indent="-171446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superiority over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CNN-based methods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Google Shape;59;p1">
            <a:extLst>
              <a:ext uri="{FF2B5EF4-FFF2-40B4-BE49-F238E27FC236}">
                <a16:creationId xmlns:a16="http://schemas.microsoft.com/office/drawing/2014/main" id="{78730A8F-078A-860F-030A-519DAE28098B}"/>
              </a:ext>
            </a:extLst>
          </p:cNvPr>
          <p:cNvSpPr txBox="1"/>
          <p:nvPr/>
        </p:nvSpPr>
        <p:spPr>
          <a:xfrm>
            <a:off x="4350313" y="804323"/>
            <a:ext cx="4236794" cy="1840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Proposed Approach:</a:t>
            </a:r>
            <a:b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SuperFormer generalizes the Swin Transformer to the 3D medical domain for MRI super-resolution. It uses volumetric attention with 3D relative positional encoding to capture structural details. By combining feature and volume embeddings, the model produces sharper, more accurate reconstructions than single-domain methods</a:t>
            </a: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6" name="Google Shape;59;p1">
            <a:extLst>
              <a:ext uri="{FF2B5EF4-FFF2-40B4-BE49-F238E27FC236}">
                <a16:creationId xmlns:a16="http://schemas.microsoft.com/office/drawing/2014/main" id="{DADA20DD-C8B1-BFC1-C7BF-3095058A6789}"/>
              </a:ext>
            </a:extLst>
          </p:cNvPr>
          <p:cNvSpPr txBox="1"/>
          <p:nvPr/>
        </p:nvSpPr>
        <p:spPr>
          <a:xfrm>
            <a:off x="8680229" y="5168260"/>
            <a:ext cx="3453115" cy="16133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rgbClr val="2F5496"/>
              </a:buClr>
              <a:buSzPts val="1200"/>
            </a:pPr>
            <a:r>
              <a:rPr lang="en-US" sz="1400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Conclusion:</a:t>
            </a:r>
          </a:p>
          <a:p>
            <a:pPr>
              <a:buClr>
                <a:srgbClr val="2F5496"/>
              </a:buClr>
              <a:buSzPts val="1200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SuperFormer outperforms CNNs and 2D transformers by leveraging 3D volumetric information. Its multi-domain design improves accuracy and perceptual quality, providing a strong foundation for future medical imaging research.</a:t>
            </a:r>
            <a:endParaRPr lang="en-IN" sz="14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5" name="Google Shape;59;p1">
            <a:extLst>
              <a:ext uri="{FF2B5EF4-FFF2-40B4-BE49-F238E27FC236}">
                <a16:creationId xmlns:a16="http://schemas.microsoft.com/office/drawing/2014/main" id="{855ED987-699B-0496-A78F-1D5FB67F3085}"/>
              </a:ext>
            </a:extLst>
          </p:cNvPr>
          <p:cNvSpPr txBox="1"/>
          <p:nvPr/>
        </p:nvSpPr>
        <p:spPr>
          <a:xfrm>
            <a:off x="8677654" y="804927"/>
            <a:ext cx="3455691" cy="4299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lvl="0"/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Results:</a:t>
            </a:r>
          </a:p>
          <a:p>
            <a:pPr lvl="0"/>
            <a:endParaRPr lang="en-US" b="1" dirty="0">
              <a:solidFill>
                <a:srgbClr val="17365D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dk1"/>
              </a:buClr>
              <a:buSzPts val="1200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2F5496"/>
              </a:buClr>
              <a:buSzPts val="1200"/>
            </a:pPr>
            <a:endParaRPr lang="en-IN" sz="14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CA4A4AFB-EC6E-49A1-BA61-A43DB20333CC}"/>
              </a:ext>
            </a:extLst>
          </p:cNvPr>
          <p:cNvSpPr txBox="1"/>
          <p:nvPr/>
        </p:nvSpPr>
        <p:spPr>
          <a:xfrm>
            <a:off x="57564" y="4432573"/>
            <a:ext cx="4225679" cy="23260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Methodology: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17365D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3D tokens from MRI volumes and embed them for transformer processing.</a:t>
            </a: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shifted window attention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Swin blocks for volumetric feature learning.</a:t>
            </a: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Fuse shallow and deep features from both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embeddings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reconstruct HR MR</a:t>
            </a:r>
          </a:p>
          <a:p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0F2CA50-D6E4-AEBB-E7CA-19CA66047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A09029-7089-D29C-397C-2CDBD24D0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3049317"/>
            <a:ext cx="3338763" cy="22288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C0BA18-FC66-BF5F-CA5F-3AAFFC10D379}"/>
              </a:ext>
            </a:extLst>
          </p:cNvPr>
          <p:cNvSpPr txBox="1"/>
          <p:nvPr/>
        </p:nvSpPr>
        <p:spPr>
          <a:xfrm>
            <a:off x="4394327" y="2693426"/>
            <a:ext cx="140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Architecture: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EA475D-619E-40A6-1153-8A8E82FB7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4451" y="1146648"/>
            <a:ext cx="3142095" cy="10508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54C23F-CEE1-63CC-22CD-62BAFB3C20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9736" y="2175515"/>
            <a:ext cx="3211524" cy="18401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6F68FE-6A7B-3E32-C441-FA9F022361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9736" y="4049543"/>
            <a:ext cx="3211524" cy="97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08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6000"/>
    </mc:Choice>
    <mc:Fallback xmlns="">
      <p:transition advClick="0" advTm="6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FC4B9C6-EE5D-6FAA-94B2-877EAF48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>
            <a:extLst>
              <a:ext uri="{FF2B5EF4-FFF2-40B4-BE49-F238E27FC236}">
                <a16:creationId xmlns:a16="http://schemas.microsoft.com/office/drawing/2014/main" id="{45F48013-21F5-42CB-DEF4-9300E4F82529}"/>
              </a:ext>
            </a:extLst>
          </p:cNvPr>
          <p:cNvSpPr txBox="1"/>
          <p:nvPr/>
        </p:nvSpPr>
        <p:spPr>
          <a:xfrm>
            <a:off x="11932920" y="68580"/>
            <a:ext cx="342800" cy="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rgbClr val="FFFFFF"/>
              </a:buClr>
              <a:buSzPts val="300"/>
            </a:pPr>
            <a:r>
              <a:rPr lang="en-GB" sz="400">
                <a:solidFill>
                  <a:srgbClr val="FFFFFF"/>
                </a:solidFill>
                <a:latin typeface="Times New Roman" panose="02020603050405020304" pitchFamily="18" charset="0"/>
                <a:ea typeface="Trebuchet MS" panose="020B0603020202020204"/>
                <a:cs typeface="Times New Roman" panose="02020603050405020304" pitchFamily="18" charset="0"/>
                <a:sym typeface="Trebuchet MS" panose="020B0603020202020204"/>
              </a:rPr>
              <a:t>TM</a:t>
            </a:r>
            <a:endParaRPr sz="146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AA94C669-65C5-E11C-F0C7-22E803795ACC}"/>
              </a:ext>
            </a:extLst>
          </p:cNvPr>
          <p:cNvSpPr/>
          <p:nvPr/>
        </p:nvSpPr>
        <p:spPr>
          <a:xfrm>
            <a:off x="32335" y="804322"/>
            <a:ext cx="5034967" cy="757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400"/>
            </a:pPr>
            <a:endParaRPr sz="2400" dirty="0">
              <a:solidFill>
                <a:srgbClr val="FFFFFF"/>
              </a:solidFill>
              <a:latin typeface="Times New Roman" panose="02020603050405020304" pitchFamily="18" charset="0"/>
              <a:ea typeface="Trebuchet MS" panose="020B0603020202020204"/>
              <a:cs typeface="Times New Roman" panose="02020603050405020304" pitchFamily="18" charset="0"/>
              <a:sym typeface="Trebuchet MS" panose="020B0603020202020204"/>
            </a:endParaRPr>
          </a:p>
        </p:txBody>
      </p:sp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645B2CAE-7766-19B1-233A-484FE776ABEB}"/>
              </a:ext>
            </a:extLst>
          </p:cNvPr>
          <p:cNvSpPr/>
          <p:nvPr/>
        </p:nvSpPr>
        <p:spPr>
          <a:xfrm>
            <a:off x="5102415" y="819839"/>
            <a:ext cx="3633216" cy="4299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Google Shape;68;p1">
            <a:extLst>
              <a:ext uri="{FF2B5EF4-FFF2-40B4-BE49-F238E27FC236}">
                <a16:creationId xmlns:a16="http://schemas.microsoft.com/office/drawing/2014/main" id="{832211A3-F192-A884-39F7-CFA2142420DB}"/>
              </a:ext>
            </a:extLst>
          </p:cNvPr>
          <p:cNvSpPr/>
          <p:nvPr/>
        </p:nvSpPr>
        <p:spPr>
          <a:xfrm>
            <a:off x="58656" y="5160611"/>
            <a:ext cx="5008645" cy="1630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just">
              <a:buClr>
                <a:schemeClr val="dk1"/>
              </a:buClr>
              <a:buSzPts val="1100"/>
            </a:pPr>
            <a:endParaRPr sz="1333" dirty="0">
              <a:solidFill>
                <a:srgbClr val="FFFFFF"/>
              </a:solidFill>
              <a:latin typeface="Times New Roman" panose="02020603050405020304" pitchFamily="18" charset="0"/>
              <a:ea typeface="Trebuchet MS" panose="020B0603020202020204"/>
              <a:cs typeface="Times New Roman" panose="02020603050405020304" pitchFamily="18" charset="0"/>
              <a:sym typeface="Trebuchet MS" panose="020B0603020202020204"/>
            </a:endParaRPr>
          </a:p>
        </p:txBody>
      </p:sp>
      <p:sp>
        <p:nvSpPr>
          <p:cNvPr id="74" name="Google Shape;74;p1">
            <a:extLst>
              <a:ext uri="{FF2B5EF4-FFF2-40B4-BE49-F238E27FC236}">
                <a16:creationId xmlns:a16="http://schemas.microsoft.com/office/drawing/2014/main" id="{3889F92C-6903-3F9F-CC93-FAE1C73ED1F3}"/>
              </a:ext>
            </a:extLst>
          </p:cNvPr>
          <p:cNvSpPr txBox="1"/>
          <p:nvPr/>
        </p:nvSpPr>
        <p:spPr>
          <a:xfrm>
            <a:off x="-24161" y="740240"/>
            <a:ext cx="5091461" cy="10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>
              <a:lnSpc>
                <a:spcPct val="115000"/>
              </a:lnSpc>
              <a:spcBef>
                <a:spcPts val="2400"/>
              </a:spcBef>
              <a:spcAft>
                <a:spcPts val="2400"/>
              </a:spcAft>
              <a:buClr>
                <a:schemeClr val="dk1"/>
              </a:buClr>
              <a:buSzPts val="1100"/>
            </a:pPr>
            <a:endParaRPr lang="en-US" sz="1200" kern="1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Google Shape;60;p1">
            <a:extLst>
              <a:ext uri="{FF2B5EF4-FFF2-40B4-BE49-F238E27FC236}">
                <a16:creationId xmlns:a16="http://schemas.microsoft.com/office/drawing/2014/main" id="{3594B57A-7398-AEC1-8C24-24BF6A21F223}"/>
              </a:ext>
            </a:extLst>
          </p:cNvPr>
          <p:cNvSpPr/>
          <p:nvPr/>
        </p:nvSpPr>
        <p:spPr>
          <a:xfrm>
            <a:off x="-12081" y="-4407"/>
            <a:ext cx="12204081" cy="775449"/>
          </a:xfrm>
          <a:prstGeom prst="rect">
            <a:avLst/>
          </a:prstGeom>
          <a:solidFill>
            <a:schemeClr val="tx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chemeClr val="accent2"/>
              </a:buClr>
              <a:buSzPts val="2400"/>
            </a:pPr>
            <a:endParaRPr lang="en-US" sz="13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Google Shape;61;p1">
            <a:extLst>
              <a:ext uri="{FF2B5EF4-FFF2-40B4-BE49-F238E27FC236}">
                <a16:creationId xmlns:a16="http://schemas.microsoft.com/office/drawing/2014/main" id="{008543A7-8C48-C27B-8D9F-99A407758523}"/>
              </a:ext>
            </a:extLst>
          </p:cNvPr>
          <p:cNvSpPr/>
          <p:nvPr/>
        </p:nvSpPr>
        <p:spPr>
          <a:xfrm>
            <a:off x="-24161" y="15985"/>
            <a:ext cx="12216161" cy="840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QUIET-SR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Siddhant Dutta, Nouhaila Innan, Khadijeh Najafi, Sadok Ben Yahia, Muhammad Shafique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Google Shape;62;p1">
            <a:extLst>
              <a:ext uri="{FF2B5EF4-FFF2-40B4-BE49-F238E27FC236}">
                <a16:creationId xmlns:a16="http://schemas.microsoft.com/office/drawing/2014/main" id="{0EC36D47-69C2-8459-FF12-665CBBE3EE5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447520" y="15985"/>
            <a:ext cx="656800" cy="6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59;p1">
            <a:extLst>
              <a:ext uri="{FF2B5EF4-FFF2-40B4-BE49-F238E27FC236}">
                <a16:creationId xmlns:a16="http://schemas.microsoft.com/office/drawing/2014/main" id="{456D4862-6A30-55ED-F32D-7F961D082F75}"/>
              </a:ext>
            </a:extLst>
          </p:cNvPr>
          <p:cNvSpPr txBox="1"/>
          <p:nvPr/>
        </p:nvSpPr>
        <p:spPr>
          <a:xfrm>
            <a:off x="46449" y="785157"/>
            <a:ext cx="4236794" cy="1773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Problem Statement:</a:t>
            </a:r>
            <a:b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</a:b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Classical SR methods are computationally expensive, while quantum computing approaches face scalability limitations. Bridging these paradigms requires careful integration to exploit quantum advantages without overwhelming current hardware limits.</a:t>
            </a:r>
            <a:endParaRPr lang="en-US" sz="1400" b="1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9" name="Google Shape;58;p1">
            <a:extLst>
              <a:ext uri="{FF2B5EF4-FFF2-40B4-BE49-F238E27FC236}">
                <a16:creationId xmlns:a16="http://schemas.microsoft.com/office/drawing/2014/main" id="{03BB8EF3-ED6E-E669-0EAE-6048D94E4152}"/>
              </a:ext>
            </a:extLst>
          </p:cNvPr>
          <p:cNvSpPr/>
          <p:nvPr/>
        </p:nvSpPr>
        <p:spPr>
          <a:xfrm>
            <a:off x="8704144" y="819996"/>
            <a:ext cx="3332243" cy="3094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Google Shape;78;p1">
            <a:extLst>
              <a:ext uri="{FF2B5EF4-FFF2-40B4-BE49-F238E27FC236}">
                <a16:creationId xmlns:a16="http://schemas.microsoft.com/office/drawing/2014/main" id="{6DD44F7E-301D-5A87-98E5-3897A0482657}"/>
              </a:ext>
            </a:extLst>
          </p:cNvPr>
          <p:cNvSpPr/>
          <p:nvPr/>
        </p:nvSpPr>
        <p:spPr>
          <a:xfrm>
            <a:off x="4361427" y="2693426"/>
            <a:ext cx="4225679" cy="4088196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46" indent="-171446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59;p1">
            <a:extLst>
              <a:ext uri="{FF2B5EF4-FFF2-40B4-BE49-F238E27FC236}">
                <a16:creationId xmlns:a16="http://schemas.microsoft.com/office/drawing/2014/main" id="{67803C62-4DAF-D679-B3F9-2A9D988CDD2A}"/>
              </a:ext>
            </a:extLst>
          </p:cNvPr>
          <p:cNvSpPr txBox="1"/>
          <p:nvPr/>
        </p:nvSpPr>
        <p:spPr>
          <a:xfrm>
            <a:off x="57564" y="2644628"/>
            <a:ext cx="4225679" cy="17249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Objective:</a:t>
            </a:r>
          </a:p>
          <a:p>
            <a:pPr marL="171442" indent="-171442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Combine quantum and classical components to leverage their complementary strengths.</a:t>
            </a:r>
          </a:p>
          <a:p>
            <a:pPr marL="171442" indent="-171442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2" indent="-171442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Adapt the model to NISQ hardware limits while maintaining competitive SR performance.</a:t>
            </a:r>
            <a:b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>
              <a:lnSpc>
                <a:spcPct val="114000"/>
              </a:lnSpc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Google Shape;59;p1">
            <a:extLst>
              <a:ext uri="{FF2B5EF4-FFF2-40B4-BE49-F238E27FC236}">
                <a16:creationId xmlns:a16="http://schemas.microsoft.com/office/drawing/2014/main" id="{2AF8E41D-FF75-A18F-1D37-2E97ACEAC40D}"/>
              </a:ext>
            </a:extLst>
          </p:cNvPr>
          <p:cNvSpPr txBox="1"/>
          <p:nvPr/>
        </p:nvSpPr>
        <p:spPr>
          <a:xfrm>
            <a:off x="4350313" y="804323"/>
            <a:ext cx="4236794" cy="18403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Proposed Approach:</a:t>
            </a:r>
            <a:b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 hybrid architecture alternates between quantum and classical operations. The SQWIN design shifts attention windows to model cross-region dependencies, enhancing detail reconstruction without inflating parameter counts.</a:t>
            </a:r>
          </a:p>
        </p:txBody>
      </p:sp>
      <p:sp>
        <p:nvSpPr>
          <p:cNvPr id="6" name="Google Shape;59;p1">
            <a:extLst>
              <a:ext uri="{FF2B5EF4-FFF2-40B4-BE49-F238E27FC236}">
                <a16:creationId xmlns:a16="http://schemas.microsoft.com/office/drawing/2014/main" id="{632E04ED-39D6-8807-F943-6A62471B0FC9}"/>
              </a:ext>
            </a:extLst>
          </p:cNvPr>
          <p:cNvSpPr txBox="1"/>
          <p:nvPr/>
        </p:nvSpPr>
        <p:spPr>
          <a:xfrm>
            <a:off x="8680229" y="5168260"/>
            <a:ext cx="3453115" cy="16133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rgbClr val="2F5496"/>
              </a:buClr>
              <a:buSzPts val="1200"/>
            </a:pPr>
            <a:r>
              <a:rPr lang="en-US" sz="1400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Conclusion:</a:t>
            </a:r>
          </a:p>
          <a:p>
            <a:pPr>
              <a:buClr>
                <a:srgbClr val="2F5496"/>
              </a:buClr>
              <a:buSzPts val="1200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The method achieves near-SOTA PSNR/SSIM on small datasets (MNIST, </a:t>
            </a:r>
            <a:r>
              <a:rPr lang="en-US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FashionMNIST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, </a:t>
            </a:r>
            <a:r>
              <a:rPr lang="en-US" sz="14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MedMNIST</a:t>
            </a: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) with significantly fewer parameters, demonstrating the feasibility of quantum-enhanced SR.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5" name="Google Shape;59;p1">
            <a:extLst>
              <a:ext uri="{FF2B5EF4-FFF2-40B4-BE49-F238E27FC236}">
                <a16:creationId xmlns:a16="http://schemas.microsoft.com/office/drawing/2014/main" id="{F5FB72D2-ED8D-90FB-65E7-F2825DED11F1}"/>
              </a:ext>
            </a:extLst>
          </p:cNvPr>
          <p:cNvSpPr txBox="1"/>
          <p:nvPr/>
        </p:nvSpPr>
        <p:spPr>
          <a:xfrm>
            <a:off x="8677654" y="804927"/>
            <a:ext cx="3455691" cy="4299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lvl="0"/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Results:</a:t>
            </a:r>
          </a:p>
          <a:p>
            <a:pPr lvl="0"/>
            <a:endParaRPr lang="en-US" b="1" dirty="0">
              <a:solidFill>
                <a:srgbClr val="17365D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dk1"/>
              </a:buClr>
              <a:buSzPts val="1200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6" indent="-171446">
              <a:buClr>
                <a:schemeClr val="dk1"/>
              </a:buClr>
              <a:buSzPts val="1200"/>
              <a:buFont typeface="Arial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2F5496"/>
              </a:buClr>
              <a:buSzPts val="1200"/>
            </a:pPr>
            <a:endParaRPr lang="en-IN" sz="1400" b="1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1D6A712D-722A-3A1C-BD82-066FDFFC029F}"/>
              </a:ext>
            </a:extLst>
          </p:cNvPr>
          <p:cNvSpPr txBox="1"/>
          <p:nvPr/>
        </p:nvSpPr>
        <p:spPr>
          <a:xfrm>
            <a:off x="57564" y="4432573"/>
            <a:ext cx="4225679" cy="23260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17365D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Methodology: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>
              <a:solidFill>
                <a:srgbClr val="17365D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71442" indent="-171442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 Swin Transformer backbone is augmented with Shifted Quantum Window Attention (SQWIN) modules.</a:t>
            </a:r>
          </a:p>
          <a:p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</a:p>
          <a:p>
            <a:pPr marL="171442" indent="-171442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Quantum layers capture spatial relations efficiently and classical layers refine the reconstruction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FCBC682-A4A0-766E-EC4E-A2B18B402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29D5B-8854-B0A9-7954-2C41CEA7258E}"/>
              </a:ext>
            </a:extLst>
          </p:cNvPr>
          <p:cNvSpPr txBox="1"/>
          <p:nvPr/>
        </p:nvSpPr>
        <p:spPr>
          <a:xfrm>
            <a:off x="4394327" y="2693426"/>
            <a:ext cx="1408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Architecture:</a:t>
            </a:r>
            <a:endParaRPr lang="en-IN" dirty="0"/>
          </a:p>
        </p:txBody>
      </p:sp>
      <p:pic>
        <p:nvPicPr>
          <p:cNvPr id="13" name="Google Shape;268;p11">
            <a:extLst>
              <a:ext uri="{FF2B5EF4-FFF2-40B4-BE49-F238E27FC236}">
                <a16:creationId xmlns:a16="http://schemas.microsoft.com/office/drawing/2014/main" id="{5A375FAE-1643-CFAE-3101-7D8A1C6A5EC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7643" y="3111555"/>
            <a:ext cx="3130839" cy="329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69;p11">
            <a:extLst>
              <a:ext uri="{FF2B5EF4-FFF2-40B4-BE49-F238E27FC236}">
                <a16:creationId xmlns:a16="http://schemas.microsoft.com/office/drawing/2014/main" id="{A950B21A-12CC-6B18-FC72-5CA6F7CA031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0926" y="1109954"/>
            <a:ext cx="3218677" cy="904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70;p11">
            <a:extLst>
              <a:ext uri="{FF2B5EF4-FFF2-40B4-BE49-F238E27FC236}">
                <a16:creationId xmlns:a16="http://schemas.microsoft.com/office/drawing/2014/main" id="{09A36801-2A4C-EF2A-31E6-F0C9B163B53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16884" y="2104380"/>
            <a:ext cx="3106759" cy="859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71;p11">
            <a:extLst>
              <a:ext uri="{FF2B5EF4-FFF2-40B4-BE49-F238E27FC236}">
                <a16:creationId xmlns:a16="http://schemas.microsoft.com/office/drawing/2014/main" id="{575A2696-13A4-C1BE-EF33-AD2EC76415D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28419" y="3344788"/>
            <a:ext cx="3083688" cy="16455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991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6000"/>
    </mc:Choice>
    <mc:Fallback>
      <p:transition advClick="0" advTm="6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824</Words>
  <Application>Microsoft Office PowerPoint</Application>
  <PresentationFormat>Widescreen</PresentationFormat>
  <Paragraphs>132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ADITI PONKSHE</dc:creator>
  <cp:lastModifiedBy>Rashmi Mallayya</cp:lastModifiedBy>
  <cp:revision>4</cp:revision>
  <dcterms:created xsi:type="dcterms:W3CDTF">2024-09-17T11:21:29Z</dcterms:created>
  <dcterms:modified xsi:type="dcterms:W3CDTF">2025-11-15T08:02:06Z</dcterms:modified>
</cp:coreProperties>
</file>